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Tenor Sans"/>
      <p:regular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/LVVMXzJFIpyntSwI/Kr3wpek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Tenor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66750" y="2525489"/>
            <a:ext cx="9763125" cy="4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0500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Lei de Incentivo à Reciclagem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12172950" y="0"/>
            <a:ext cx="6115050" cy="10287000"/>
          </a:xfrm>
          <a:custGeom>
            <a:rect b="b" l="l" r="r" t="t"/>
            <a:pathLst>
              <a:path extrusionOk="0" h="1593725" w="947381">
                <a:moveTo>
                  <a:pt x="0" y="0"/>
                </a:moveTo>
                <a:lnTo>
                  <a:pt x="947381" y="0"/>
                </a:lnTo>
                <a:lnTo>
                  <a:pt x="947381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" l="0" r="0" t="-56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8774635" y="7396104"/>
            <a:ext cx="6274865" cy="4114800"/>
          </a:xfrm>
          <a:custGeom>
            <a:rect b="b" l="l" r="r" t="t"/>
            <a:pathLst>
              <a:path extrusionOk="0" h="4114800" w="6274865">
                <a:moveTo>
                  <a:pt x="0" y="0"/>
                </a:moveTo>
                <a:lnTo>
                  <a:pt x="6274865" y="0"/>
                </a:lnTo>
                <a:lnTo>
                  <a:pt x="627486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796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2"/>
          <p:cNvGrpSpPr/>
          <p:nvPr/>
        </p:nvGrpSpPr>
        <p:grpSpPr>
          <a:xfrm>
            <a:off x="666750" y="1562100"/>
            <a:ext cx="9763125" cy="3941234"/>
            <a:chOff x="0" y="0"/>
            <a:chExt cx="13017500" cy="5254979"/>
          </a:xfrm>
        </p:grpSpPr>
        <p:sp>
          <p:nvSpPr>
            <p:cNvPr id="92" name="Google Shape;92;p2"/>
            <p:cNvSpPr txBox="1"/>
            <p:nvPr/>
          </p:nvSpPr>
          <p:spPr>
            <a:xfrm>
              <a:off x="0" y="0"/>
              <a:ext cx="13017500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6999" u="none" cap="none" strike="noStrike">
                  <a:solidFill>
                    <a:srgbClr val="F4F9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O que é a LIR?</a:t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0" y="2124039"/>
              <a:ext cx="13017500" cy="530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LEI Nº 14.260/2021</a:t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0" y="3317822"/>
              <a:ext cx="130175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 Lei de Incentivo à Reciclagem (LIR) foi estabelecida para fortalecer a reciclagem. Ela tem como objetivo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reduzir a geração de resíduos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e ampliar o uso de materiais recicláveis, permitindo que contribuintes apoiem projetos aprovados com parte de seu imposto de renda.</a:t>
              </a:r>
              <a:endParaRPr/>
            </a:p>
          </p:txBody>
        </p:sp>
      </p:grpSp>
      <p:sp>
        <p:nvSpPr>
          <p:cNvPr id="95" name="Google Shape;95;p2"/>
          <p:cNvSpPr/>
          <p:nvPr/>
        </p:nvSpPr>
        <p:spPr>
          <a:xfrm>
            <a:off x="15150568" y="7200900"/>
            <a:ext cx="6274865" cy="4114800"/>
          </a:xfrm>
          <a:custGeom>
            <a:rect b="b" l="l" r="r" t="t"/>
            <a:pathLst>
              <a:path extrusionOk="0"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2A27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3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Objetivos da LIR</a:t>
            </a:r>
            <a:endParaRPr/>
          </a:p>
        </p:txBody>
      </p:sp>
      <p:grpSp>
        <p:nvGrpSpPr>
          <p:cNvPr id="102" name="Google Shape;102;p3"/>
          <p:cNvGrpSpPr/>
          <p:nvPr/>
        </p:nvGrpSpPr>
        <p:grpSpPr>
          <a:xfrm>
            <a:off x="666750" y="5107781"/>
            <a:ext cx="5448300" cy="2348232"/>
            <a:chOff x="0" y="-47625"/>
            <a:chExt cx="7264400" cy="3130975"/>
          </a:xfrm>
        </p:grpSpPr>
        <p:sp>
          <p:nvSpPr>
            <p:cNvPr id="103" name="Google Shape;103;p3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FORTALECER</a:t>
              </a:r>
              <a:endParaRPr/>
            </a:p>
          </p:txBody>
        </p:sp>
        <p:sp>
          <p:nvSpPr>
            <p:cNvPr id="104" name="Google Shape;104;p3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O fortalecimento da reciclagem é essencial para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aumentar a eficiência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dos processos e promover a valorização de materiais reutilizáveis.</a:t>
              </a:r>
              <a:endParaRPr/>
            </a:p>
          </p:txBody>
        </p:sp>
      </p:grpSp>
      <p:grpSp>
        <p:nvGrpSpPr>
          <p:cNvPr id="105" name="Google Shape;105;p3"/>
          <p:cNvGrpSpPr/>
          <p:nvPr/>
        </p:nvGrpSpPr>
        <p:grpSpPr>
          <a:xfrm>
            <a:off x="6419850" y="5107781"/>
            <a:ext cx="5448300" cy="2348232"/>
            <a:chOff x="0" y="-47625"/>
            <a:chExt cx="7264400" cy="3130975"/>
          </a:xfrm>
        </p:grpSpPr>
        <p:sp>
          <p:nvSpPr>
            <p:cNvPr id="106" name="Google Shape;106;p3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REDUZIR</a:t>
              </a:r>
              <a:endParaRPr/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 LIR busca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diminuir a geração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de resíduos, incentivando práticas sustentáveis que ajudem a preservar o meio ambiente e a saúde pública.</a:t>
              </a:r>
              <a:endParaRPr/>
            </a:p>
          </p:txBody>
        </p:sp>
      </p:grpSp>
      <p:grpSp>
        <p:nvGrpSpPr>
          <p:cNvPr id="108" name="Google Shape;108;p3"/>
          <p:cNvGrpSpPr/>
          <p:nvPr/>
        </p:nvGrpSpPr>
        <p:grpSpPr>
          <a:xfrm>
            <a:off x="12172950" y="5107781"/>
            <a:ext cx="5448300" cy="2348232"/>
            <a:chOff x="0" y="-47625"/>
            <a:chExt cx="7264400" cy="3130975"/>
          </a:xfrm>
        </p:grpSpPr>
        <p:sp>
          <p:nvSpPr>
            <p:cNvPr id="109" name="Google Shape;109;p3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AMPLIAR</a:t>
              </a:r>
              <a:endParaRPr/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Ampliar o uso de materiais recicláveis é fundamental para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fomentar a economia circular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, promovendo a reutilização e a redução de desperdícios.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Quem pode incentivar?</a:t>
            </a:r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10734675" y="3317075"/>
            <a:ext cx="5448300" cy="5200788"/>
            <a:chOff x="0" y="-47625"/>
            <a:chExt cx="7264400" cy="6934385"/>
          </a:xfrm>
        </p:grpSpPr>
        <p:sp>
          <p:nvSpPr>
            <p:cNvPr id="117" name="Google Shape;117;p4"/>
            <p:cNvSpPr txBox="1"/>
            <p:nvPr/>
          </p:nvSpPr>
          <p:spPr>
            <a:xfrm>
              <a:off x="0" y="-47625"/>
              <a:ext cx="7264400" cy="530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PESSOAS FÍSICAS</a:t>
              </a:r>
              <a:endParaRPr/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0" y="878058"/>
              <a:ext cx="72644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Pessoas físicas podem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deduzir até 6%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do imposto de renda devido, incentivando projetos de reciclagem e contribuindo para a sustentabilidade.</a:t>
              </a:r>
              <a:endParaRPr/>
            </a:p>
          </p:txBody>
        </p:sp>
        <p:sp>
          <p:nvSpPr>
            <p:cNvPr id="119" name="Google Shape;119;p4"/>
            <p:cNvSpPr txBox="1"/>
            <p:nvPr/>
          </p:nvSpPr>
          <p:spPr>
            <a:xfrm>
              <a:off x="0" y="4023921"/>
              <a:ext cx="7264400" cy="530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PESSOAS JURÍDICAS</a:t>
              </a:r>
              <a:endParaRPr/>
            </a:p>
          </p:txBody>
        </p:sp>
        <p:sp>
          <p:nvSpPr>
            <p:cNvPr id="120" name="Google Shape;120;p4"/>
            <p:cNvSpPr txBox="1"/>
            <p:nvPr/>
          </p:nvSpPr>
          <p:spPr>
            <a:xfrm>
              <a:off x="0" y="4949603"/>
              <a:ext cx="72644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Empresas sob o regime do Lucro Real têm a possibilidade de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deduzir até 1%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do imposto devido, ampliando o apoio a iniciativas de reciclagem.</a:t>
              </a:r>
              <a:endParaRPr/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-3137432" y="7200900"/>
            <a:ext cx="6274865" cy="4114800"/>
          </a:xfrm>
          <a:custGeom>
            <a:rect b="b" l="l" r="r" t="t"/>
            <a:pathLst>
              <a:path extrusionOk="0"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7960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5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Benefícios Fiscais</a:t>
            </a:r>
            <a:endParaRPr/>
          </a:p>
        </p:txBody>
      </p:sp>
      <p:grpSp>
        <p:nvGrpSpPr>
          <p:cNvPr id="128" name="Google Shape;128;p5"/>
          <p:cNvGrpSpPr/>
          <p:nvPr/>
        </p:nvGrpSpPr>
        <p:grpSpPr>
          <a:xfrm>
            <a:off x="666750" y="5107781"/>
            <a:ext cx="5448300" cy="1980609"/>
            <a:chOff x="0" y="-47625"/>
            <a:chExt cx="7264400" cy="2640812"/>
          </a:xfrm>
        </p:grpSpPr>
        <p:sp>
          <p:nvSpPr>
            <p:cNvPr id="129" name="Google Shape;129;p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PESSOAS FÍSICAS</a:t>
              </a:r>
              <a:endParaRPr/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0" y="1146193"/>
              <a:ext cx="7264400" cy="14469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As pessoas físicas podem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deduzir até 6%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do imposto de renda devido, incentivando o apoio a iniciativas de reciclagem.</a:t>
              </a:r>
              <a:endParaRPr/>
            </a:p>
          </p:txBody>
        </p:sp>
      </p:grpSp>
      <p:grpSp>
        <p:nvGrpSpPr>
          <p:cNvPr id="131" name="Google Shape;131;p5"/>
          <p:cNvGrpSpPr/>
          <p:nvPr/>
        </p:nvGrpSpPr>
        <p:grpSpPr>
          <a:xfrm>
            <a:off x="6419850" y="5107781"/>
            <a:ext cx="5448300" cy="2348232"/>
            <a:chOff x="0" y="-47625"/>
            <a:chExt cx="7264400" cy="3130975"/>
          </a:xfrm>
        </p:grpSpPr>
        <p:sp>
          <p:nvSpPr>
            <p:cNvPr id="132" name="Google Shape;132;p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PESSOAS JURÍDICAS</a:t>
              </a:r>
              <a:endParaRPr/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Empresas do regime do Lucro Real podem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deduzir até 1%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do imposto devido, promovendo projetos de reciclagem e sustentabilidade.</a:t>
              </a:r>
              <a:endParaRPr/>
            </a:p>
          </p:txBody>
        </p:sp>
      </p:grpSp>
      <p:grpSp>
        <p:nvGrpSpPr>
          <p:cNvPr id="134" name="Google Shape;134;p5"/>
          <p:cNvGrpSpPr/>
          <p:nvPr/>
        </p:nvGrpSpPr>
        <p:grpSpPr>
          <a:xfrm>
            <a:off x="12172950" y="5107781"/>
            <a:ext cx="5448300" cy="2348232"/>
            <a:chOff x="0" y="-47625"/>
            <a:chExt cx="7264400" cy="3130975"/>
          </a:xfrm>
        </p:grpSpPr>
        <p:sp>
          <p:nvSpPr>
            <p:cNvPr id="135" name="Google Shape;135;p5"/>
            <p:cNvSpPr txBox="1"/>
            <p:nvPr/>
          </p:nvSpPr>
          <p:spPr>
            <a:xfrm>
              <a:off x="0" y="-47625"/>
              <a:ext cx="72644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VALIDADE</a:t>
              </a:r>
              <a:endParaRPr/>
            </a:p>
          </p:txBody>
        </p:sp>
        <p:sp>
          <p:nvSpPr>
            <p:cNvPr id="136" name="Google Shape;136;p5"/>
            <p:cNvSpPr txBox="1"/>
            <p:nvPr/>
          </p:nvSpPr>
          <p:spPr>
            <a:xfrm>
              <a:off x="0" y="1146193"/>
              <a:ext cx="7264400" cy="19371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Os benefícios fiscais são válidos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no ano-calendário seguinte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ao aporte, proporcionando incentivos contínuos para apoiar a reciclagem.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2A276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Quem pode propor projetos?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-3137432" y="7200900"/>
            <a:ext cx="6274865" cy="4114800"/>
          </a:xfrm>
          <a:custGeom>
            <a:rect b="b" l="l" r="r" t="t"/>
            <a:pathLst>
              <a:path extrusionOk="0"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6"/>
          <p:cNvSpPr txBox="1"/>
          <p:nvPr/>
        </p:nvSpPr>
        <p:spPr>
          <a:xfrm>
            <a:off x="10751650" y="1279556"/>
            <a:ext cx="5448300" cy="80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Segundo a regulamentação e manuais do Transferegov: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Cooperativas de catadores e associações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Organizações da sociedade civil (OSC/OSCIP)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Instituições de pesquisa, ensino e tecnologia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Empresas (micro, pequenas e médias)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Órgãos públicos, consórcios, autarquias e fundações públicas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Condomínios edilícios e outros entes privados habilitados a propor iniciativas que se enquadrem nas metas da LIR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F4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Importante: </a:t>
            </a: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não há CNAE específico obrigatório – o foco é que as atividades contribuam para reciclagem e economia circular.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 txBox="1"/>
          <p:nvPr/>
        </p:nvSpPr>
        <p:spPr>
          <a:xfrm>
            <a:off x="666750" y="1562086"/>
            <a:ext cx="8324850" cy="31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Quais tipos de projetos são elegíveis?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0734675" y="2101536"/>
            <a:ext cx="5448300" cy="6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De acordo com o Decreto nº 12.106/2024 e a Portaria nº 1.250/2024: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Capacitação, formação e assessoria técnica (inclusive ações educativas e intercâmbios).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Fortalecimento da participação de catadores e cooperativas.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Infraestrutura e equipamentos para coleta, triagem, beneficiamento e reciclagem.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Tecnologias e inovações para economia circular.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Organização de cadeias produtivas e redes de comercialização.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Educação ambiental e projetos sociais relacionados à reciclagem.</a:t>
            </a:r>
            <a:endParaRPr b="0" i="0" sz="2099" u="none" cap="none" strike="noStrike">
              <a:solidFill>
                <a:srgbClr val="F4F9F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-3137432" y="7200900"/>
            <a:ext cx="6274865" cy="4114800"/>
          </a:xfrm>
          <a:custGeom>
            <a:rect b="b" l="l" r="r" t="t"/>
            <a:pathLst>
              <a:path extrusionOk="0"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796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Públicos Beneficiados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0734675" y="1101882"/>
            <a:ext cx="5448300" cy="84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Catadores e cooperativas de reciclagem (fortalecimento organizacional e infraestrutura).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Projetos educativos com crianças e jovens em escolas públicas – desde que vinculados à reciclagem/educação ambiental (capacitação, formação, oficinas).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Associações comunitárias voltadas à economia circular.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Pequenas e médias empresas que contribuam para reciclagem e reúso.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Instituições de ensino e pesquisa com projetos aplicados à reciclagem.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F4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👉 Conclusão: Projetos podem atender crianças e adolescentes (como parte de formação ambiental), não precisam ser exclusivamente para cooperativas, desde que atendam às metas da LIR.</a:t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-3137432" y="7200900"/>
            <a:ext cx="6274865" cy="4114800"/>
          </a:xfrm>
          <a:custGeom>
            <a:rect b="b" l="l" r="r" t="t"/>
            <a:pathLst>
              <a:path extrusionOk="0" h="4114800" w="6274865">
                <a:moveTo>
                  <a:pt x="0" y="0"/>
                </a:moveTo>
                <a:lnTo>
                  <a:pt x="6274864" y="0"/>
                </a:lnTo>
                <a:lnTo>
                  <a:pt x="62748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12172950" y="0"/>
            <a:ext cx="6115050" cy="10287000"/>
          </a:xfrm>
          <a:custGeom>
            <a:rect b="b" l="l" r="r" t="t"/>
            <a:pathLst>
              <a:path extrusionOk="0" h="1593725" w="947381">
                <a:moveTo>
                  <a:pt x="0" y="0"/>
                </a:moveTo>
                <a:lnTo>
                  <a:pt x="947381" y="0"/>
                </a:lnTo>
                <a:lnTo>
                  <a:pt x="947381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" l="0" r="0" t="-56"/>
            </a:stretch>
          </a:blipFill>
          <a:ln>
            <a:noFill/>
          </a:ln>
        </p:spPr>
      </p:sp>
      <p:grpSp>
        <p:nvGrpSpPr>
          <p:cNvPr id="163" name="Google Shape;163;p9"/>
          <p:cNvGrpSpPr/>
          <p:nvPr/>
        </p:nvGrpSpPr>
        <p:grpSpPr>
          <a:xfrm>
            <a:off x="666750" y="1562100"/>
            <a:ext cx="9763125" cy="4102836"/>
            <a:chOff x="0" y="0"/>
            <a:chExt cx="13017500" cy="5470448"/>
          </a:xfrm>
        </p:grpSpPr>
        <p:sp>
          <p:nvSpPr>
            <p:cNvPr id="164" name="Google Shape;164;p9"/>
            <p:cNvSpPr txBox="1"/>
            <p:nvPr/>
          </p:nvSpPr>
          <p:spPr>
            <a:xfrm>
              <a:off x="0" y="3319799"/>
              <a:ext cx="13017500" cy="525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PLATAFORMA OFICIAL TRANSFEREGOV</a:t>
              </a:r>
              <a:endParaRPr/>
            </a:p>
          </p:txBody>
        </p:sp>
        <p:sp>
          <p:nvSpPr>
            <p:cNvPr id="165" name="Google Shape;165;p9"/>
            <p:cNvSpPr txBox="1"/>
            <p:nvPr/>
          </p:nvSpPr>
          <p:spPr>
            <a:xfrm>
              <a:off x="0" y="4513617"/>
              <a:ext cx="13017500" cy="956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 plataforma Transferegov permite o </a:t>
              </a:r>
              <a:r>
                <a:rPr b="1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cadastro fácil</a:t>
              </a: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 e a submissão de propostas, garantindo agilidade e transparência no processo de incentivo à reciclagem.</a:t>
              </a:r>
              <a:endParaRPr/>
            </a:p>
          </p:txBody>
        </p:sp>
        <p:sp>
          <p:nvSpPr>
            <p:cNvPr id="166" name="Google Shape;166;p9"/>
            <p:cNvSpPr txBox="1"/>
            <p:nvPr/>
          </p:nvSpPr>
          <p:spPr>
            <a:xfrm>
              <a:off x="0" y="0"/>
              <a:ext cx="13017500" cy="28158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6999" u="none" cap="none" strike="noStrike">
                  <a:solidFill>
                    <a:srgbClr val="F4F9F9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Sistema de cadastro e envio de projetos</a:t>
              </a:r>
              <a:endParaRPr b="0" i="0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endParaRPr>
            </a:p>
          </p:txBody>
        </p:sp>
      </p:grpSp>
      <p:sp>
        <p:nvSpPr>
          <p:cNvPr id="167" name="Google Shape;167;p9"/>
          <p:cNvSpPr txBox="1"/>
          <p:nvPr/>
        </p:nvSpPr>
        <p:spPr>
          <a:xfrm>
            <a:off x="676275" y="6807428"/>
            <a:ext cx="9763125" cy="1460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Arial"/>
              <a:buChar char="•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Faça seu cadastro (autocadastro) no Transferegov.</a:t>
            </a:r>
            <a:endParaRPr/>
          </a:p>
          <a:p>
            <a:pPr indent="-342900" lvl="0" marL="3429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Arial"/>
              <a:buChar char="•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Acesse o programa da LIR no sistema.</a:t>
            </a:r>
            <a:endParaRPr/>
          </a:p>
          <a:p>
            <a:pPr indent="-342900" lvl="0" marL="3429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Arial"/>
              <a:buChar char="•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Preencha a proposta e anexe a documentação.</a:t>
            </a:r>
            <a:endParaRPr/>
          </a:p>
          <a:p>
            <a:pPr indent="-342900" lvl="0" marL="3429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Arial"/>
              <a:buChar char="•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Submeta e acompanhe pela plataforma e pelo SINIR+.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2A27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0"/>
          <p:cNvSpPr txBox="1"/>
          <p:nvPr/>
        </p:nvSpPr>
        <p:spPr>
          <a:xfrm>
            <a:off x="666750" y="1562086"/>
            <a:ext cx="832485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Documentos geralmente exigidos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10734675" y="2324100"/>
            <a:ext cx="5448300" cy="5551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Os modelos estão disponíveis no próprio Transferegov (e incluem):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📑 Comprovação de capacidade técnica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📑 Declaração de inexistência de sobreposição de recursos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📑 Carta e/ou contrato de intenção de incentivo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📑 Lista de resultados esperados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📑 Classificação de despesas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📑 Documentos de regularidade fiscal e previdenciária (normal em leis de incentivo)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F4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Observação: </a:t>
            </a: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revisões específicas sempre podem ser exigidas conforme o edital/portaria vigente.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11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Limites para remunerações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grpSp>
        <p:nvGrpSpPr>
          <p:cNvPr id="181" name="Google Shape;181;p11"/>
          <p:cNvGrpSpPr/>
          <p:nvPr/>
        </p:nvGrpSpPr>
        <p:grpSpPr>
          <a:xfrm>
            <a:off x="2743200" y="4256871"/>
            <a:ext cx="5448300" cy="2011054"/>
            <a:chOff x="0" y="-47625"/>
            <a:chExt cx="7264400" cy="2681404"/>
          </a:xfrm>
        </p:grpSpPr>
        <p:sp>
          <p:nvSpPr>
            <p:cNvPr id="182" name="Google Shape;182;p11"/>
            <p:cNvSpPr txBox="1"/>
            <p:nvPr/>
          </p:nvSpPr>
          <p:spPr>
            <a:xfrm>
              <a:off x="0" y="-47625"/>
              <a:ext cx="7264400" cy="1117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Remuneração de Custos de Administração</a:t>
              </a:r>
              <a:endParaRPr b="1" i="0" sz="2400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 txBox="1"/>
            <p:nvPr/>
          </p:nvSpPr>
          <p:spPr>
            <a:xfrm>
              <a:off x="0" y="1146193"/>
              <a:ext cx="7264400" cy="1487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Até 15% do custo do projeto.</a:t>
              </a:r>
              <a:b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É vedada a utilização acima de 50% do custo de administração em uma mesma despesa.</a:t>
              </a:r>
              <a:endParaRPr b="0" i="0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" name="Google Shape;184;p11"/>
          <p:cNvGrpSpPr/>
          <p:nvPr/>
        </p:nvGrpSpPr>
        <p:grpSpPr>
          <a:xfrm>
            <a:off x="10257596" y="4509588"/>
            <a:ext cx="5448300" cy="1611842"/>
            <a:chOff x="0" y="-47625"/>
            <a:chExt cx="7264400" cy="2149122"/>
          </a:xfrm>
        </p:grpSpPr>
        <p:sp>
          <p:nvSpPr>
            <p:cNvPr id="185" name="Google Shape;185;p11"/>
            <p:cNvSpPr txBox="1"/>
            <p:nvPr/>
          </p:nvSpPr>
          <p:spPr>
            <a:xfrm>
              <a:off x="0" y="-47625"/>
              <a:ext cx="7264400" cy="1117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Remuneração de Captação de Recursos</a:t>
              </a:r>
              <a:endParaRPr b="1" i="0" sz="2400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 txBox="1"/>
            <p:nvPr/>
          </p:nvSpPr>
          <p:spPr>
            <a:xfrm>
              <a:off x="0" y="1146193"/>
              <a:ext cx="7264400" cy="955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Até 8% do custo do projeto.</a:t>
              </a:r>
              <a:b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Limitado ao valor máximo de R$ 120.000,00.</a:t>
              </a:r>
              <a:endParaRPr b="0" i="0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1"/>
          <p:cNvGrpSpPr/>
          <p:nvPr/>
        </p:nvGrpSpPr>
        <p:grpSpPr>
          <a:xfrm>
            <a:off x="10257596" y="7844574"/>
            <a:ext cx="5448300" cy="764540"/>
            <a:chOff x="0" y="-47625"/>
            <a:chExt cx="7264400" cy="1019386"/>
          </a:xfrm>
        </p:grpSpPr>
        <p:sp>
          <p:nvSpPr>
            <p:cNvPr id="188" name="Google Shape;188;p11"/>
            <p:cNvSpPr txBox="1"/>
            <p:nvPr/>
          </p:nvSpPr>
          <p:spPr>
            <a:xfrm>
              <a:off x="0" y="-47625"/>
              <a:ext cx="7264400" cy="536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Remuneração do proponente </a:t>
              </a:r>
              <a:endParaRPr b="1" i="0" sz="2400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 txBox="1"/>
            <p:nvPr/>
          </p:nvSpPr>
          <p:spPr>
            <a:xfrm>
              <a:off x="0" y="512318"/>
              <a:ext cx="7264400" cy="459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Não pode ultrapassar 20%.</a:t>
              </a:r>
              <a:endParaRPr b="0" i="0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11"/>
          <p:cNvGrpSpPr/>
          <p:nvPr/>
        </p:nvGrpSpPr>
        <p:grpSpPr>
          <a:xfrm>
            <a:off x="2743200" y="7542943"/>
            <a:ext cx="5448300" cy="1639157"/>
            <a:chOff x="0" y="-47625"/>
            <a:chExt cx="7264400" cy="2185542"/>
          </a:xfrm>
        </p:grpSpPr>
        <p:sp>
          <p:nvSpPr>
            <p:cNvPr id="191" name="Google Shape;191;p11"/>
            <p:cNvSpPr txBox="1"/>
            <p:nvPr/>
          </p:nvSpPr>
          <p:spPr>
            <a:xfrm>
              <a:off x="0" y="-47625"/>
              <a:ext cx="7264400" cy="1117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Remuneração de Elaboração de Proposta</a:t>
              </a:r>
              <a:endParaRPr b="1" i="0" sz="2400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 txBox="1"/>
            <p:nvPr/>
          </p:nvSpPr>
          <p:spPr>
            <a:xfrm>
              <a:off x="0" y="1146193"/>
              <a:ext cx="7264400" cy="9917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Até 1% do custo do projeto.</a:t>
              </a:r>
              <a:b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Limitado ao valor máximo de R$ 6.000,00.</a:t>
              </a:r>
              <a:endParaRPr b="0" i="0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796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p12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Fases do processo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683725" y="5120432"/>
            <a:ext cx="5448300" cy="1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Calibri"/>
              <a:buAutoNum type="arabicPeriod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Envio da proposta no Transferegov.</a:t>
            </a:r>
            <a:endParaRPr/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Calibri"/>
              <a:buAutoNum type="arabicPeriod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Captação de recursos (atingir CMOP para análise técnica).</a:t>
            </a:r>
            <a:endParaRPr/>
          </a:p>
        </p:txBody>
      </p:sp>
      <p:sp>
        <p:nvSpPr>
          <p:cNvPr id="200" name="Google Shape;200;p12"/>
          <p:cNvSpPr txBox="1"/>
          <p:nvPr/>
        </p:nvSpPr>
        <p:spPr>
          <a:xfrm>
            <a:off x="6436825" y="5120432"/>
            <a:ext cx="5448300" cy="1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Calibri"/>
              <a:buAutoNum type="arabicPeriod" startAt="3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Análise técnica pelo MMA.</a:t>
            </a:r>
            <a:endParaRPr/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Calibri"/>
              <a:buAutoNum type="arabicPeriod" startAt="3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Publicação da portaria de admissão e autorização de captação.</a:t>
            </a:r>
            <a:endParaRPr/>
          </a:p>
        </p:txBody>
      </p:sp>
      <p:sp>
        <p:nvSpPr>
          <p:cNvPr id="201" name="Google Shape;201;p12"/>
          <p:cNvSpPr txBox="1"/>
          <p:nvPr/>
        </p:nvSpPr>
        <p:spPr>
          <a:xfrm>
            <a:off x="12189925" y="5120432"/>
            <a:ext cx="5448300" cy="12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Calibri"/>
              <a:buAutoNum type="arabicPeriod" startAt="5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Execução do projeto.</a:t>
            </a:r>
            <a:endParaRPr/>
          </a:p>
          <a:p>
            <a:pPr indent="-45720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F4F9F9"/>
              </a:buClr>
              <a:buSzPts val="2099"/>
              <a:buFont typeface="Calibri"/>
              <a:buAutoNum type="arabicPeriod" startAt="5"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Prestação de contas e avaliação de resultados ao final da execução.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2A276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13"/>
          <p:cNvSpPr txBox="1"/>
          <p:nvPr/>
        </p:nvSpPr>
        <p:spPr>
          <a:xfrm>
            <a:off x="666750" y="1562086"/>
            <a:ext cx="8324850" cy="3192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Como funciona a liberação dos recursos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10734675" y="3086100"/>
            <a:ext cx="5448300" cy="4435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Após aprovação e publicação da portaria de admissão, o projeto fica apto a captar recursos de incentivadores.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Os recursos vão para conta bancária específica do projeto (conta captação e depois conta movimento).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Os incentivadores fazem o aporte no período de captação.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Os valores captados só podem ser movimentados após autorização, respeitando rubricas de despesas previstas e comprovadas nos sistemas.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796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4"/>
          <p:cNvSpPr txBox="1"/>
          <p:nvPr/>
        </p:nvSpPr>
        <p:spPr>
          <a:xfrm>
            <a:off x="666750" y="1562086"/>
            <a:ext cx="8324850" cy="211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Prestação de contas e transparência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10734675" y="3086100"/>
            <a:ext cx="5448300" cy="4435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🔍 Prestação de contas é obrigatória: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Documentos de despesas (notas fiscais, recibos, etc.) vinculados ao projeto.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Relatório final com metas previstas x executadas.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Relatório financeiro e de impactos alcançados.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✔ Avaliação pelos incentivadores (maiores contribuintes).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99" u="none" cap="none" strike="noStrike">
              <a:solidFill>
                <a:srgbClr val="F4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👉 Falhas podem levar à suspensão ou inabilitação do proponente.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2A276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5"/>
          <p:cNvSpPr txBox="1"/>
          <p:nvPr/>
        </p:nvSpPr>
        <p:spPr>
          <a:xfrm>
            <a:off x="2105025" y="1562100"/>
            <a:ext cx="14077950" cy="1055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Onde acompanhar e consultar?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grpSp>
        <p:nvGrpSpPr>
          <p:cNvPr id="222" name="Google Shape;222;p15"/>
          <p:cNvGrpSpPr/>
          <p:nvPr/>
        </p:nvGrpSpPr>
        <p:grpSpPr>
          <a:xfrm>
            <a:off x="564899" y="5107781"/>
            <a:ext cx="5581725" cy="892219"/>
            <a:chOff x="0" y="-47625"/>
            <a:chExt cx="7442300" cy="1189625"/>
          </a:xfrm>
        </p:grpSpPr>
        <p:sp>
          <p:nvSpPr>
            <p:cNvPr id="223" name="Google Shape;223;p15"/>
            <p:cNvSpPr txBox="1"/>
            <p:nvPr/>
          </p:nvSpPr>
          <p:spPr>
            <a:xfrm>
              <a:off x="0" y="-47625"/>
              <a:ext cx="726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📌 Plataforma Transferegov </a:t>
              </a:r>
              <a:endParaRPr b="1" i="0" sz="2400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5"/>
            <p:cNvSpPr txBox="1"/>
            <p:nvPr/>
          </p:nvSpPr>
          <p:spPr>
            <a:xfrm>
              <a:off x="177800" y="711200"/>
              <a:ext cx="72645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Submissão e acompanhamento.</a:t>
              </a:r>
              <a:endParaRPr b="0" i="0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15"/>
          <p:cNvGrpSpPr/>
          <p:nvPr/>
        </p:nvGrpSpPr>
        <p:grpSpPr>
          <a:xfrm>
            <a:off x="6317999" y="5107781"/>
            <a:ext cx="5448375" cy="1796944"/>
            <a:chOff x="0" y="-47625"/>
            <a:chExt cx="7264500" cy="2395925"/>
          </a:xfrm>
        </p:grpSpPr>
        <p:sp>
          <p:nvSpPr>
            <p:cNvPr id="226" name="Google Shape;226;p15"/>
            <p:cNvSpPr txBox="1"/>
            <p:nvPr/>
          </p:nvSpPr>
          <p:spPr>
            <a:xfrm>
              <a:off x="0" y="-47625"/>
              <a:ext cx="726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📌 Sistema SINIR+ </a:t>
              </a:r>
              <a:endParaRPr b="1" i="0" sz="2400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5"/>
            <p:cNvSpPr txBox="1"/>
            <p:nvPr/>
          </p:nvSpPr>
          <p:spPr>
            <a:xfrm>
              <a:off x="0" y="711200"/>
              <a:ext cx="7264500" cy="16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Informação sobre propostas aprovadas, valores captados e status dos projetos.</a:t>
              </a:r>
              <a:b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0" i="0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8" name="Google Shape;228;p15"/>
          <p:cNvGrpSpPr/>
          <p:nvPr/>
        </p:nvGrpSpPr>
        <p:grpSpPr>
          <a:xfrm>
            <a:off x="11766299" y="5107775"/>
            <a:ext cx="5886859" cy="892219"/>
            <a:chOff x="0" y="-47625"/>
            <a:chExt cx="7442300" cy="1189625"/>
          </a:xfrm>
        </p:grpSpPr>
        <p:sp>
          <p:nvSpPr>
            <p:cNvPr id="229" name="Google Shape;229;p15"/>
            <p:cNvSpPr txBox="1"/>
            <p:nvPr/>
          </p:nvSpPr>
          <p:spPr>
            <a:xfrm>
              <a:off x="0" y="-47625"/>
              <a:ext cx="7264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pt-BR" sz="2400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📌 Portais oficiais do MMA/MMAclima </a:t>
              </a:r>
              <a:endParaRPr b="1" i="0" sz="2400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5"/>
            <p:cNvSpPr txBox="1"/>
            <p:nvPr/>
          </p:nvSpPr>
          <p:spPr>
            <a:xfrm>
              <a:off x="177800" y="711200"/>
              <a:ext cx="7264500" cy="43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099" u="none" cap="none" strike="noStrike">
                  <a:solidFill>
                    <a:srgbClr val="F4F9F9"/>
                  </a:solidFill>
                  <a:latin typeface="Arial"/>
                  <a:ea typeface="Arial"/>
                  <a:cs typeface="Arial"/>
                  <a:sym typeface="Arial"/>
                </a:rPr>
                <a:t>Regulamentação, comunicados e prazos.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5F2D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"/>
          <p:cNvSpPr/>
          <p:nvPr/>
        </p:nvSpPr>
        <p:spPr>
          <a:xfrm rot="-10087176">
            <a:off x="3189187" y="-10712043"/>
            <a:ext cx="14136818" cy="12003443"/>
          </a:xfrm>
          <a:custGeom>
            <a:rect b="b" l="l" r="r" t="t"/>
            <a:pathLst>
              <a:path extrusionOk="0" h="12003443" w="14136818">
                <a:moveTo>
                  <a:pt x="0" y="0"/>
                </a:moveTo>
                <a:lnTo>
                  <a:pt x="14136818" y="0"/>
                </a:lnTo>
                <a:lnTo>
                  <a:pt x="14136818" y="12003443"/>
                </a:lnTo>
                <a:lnTo>
                  <a:pt x="0" y="120034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16"/>
          <p:cNvSpPr txBox="1"/>
          <p:nvPr/>
        </p:nvSpPr>
        <p:spPr>
          <a:xfrm>
            <a:off x="666750" y="1562086"/>
            <a:ext cx="8324850" cy="2115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999" u="none" cap="none" strike="noStrike">
                <a:solidFill>
                  <a:srgbClr val="F4F9F9"/>
                </a:solidFill>
                <a:latin typeface="Tenor Sans"/>
                <a:ea typeface="Tenor Sans"/>
                <a:cs typeface="Tenor Sans"/>
                <a:sym typeface="Tenor Sans"/>
              </a:rPr>
              <a:t>Dicas para o proponente</a:t>
            </a:r>
            <a:endParaRPr b="0" i="0" sz="6999" u="none" cap="none" strike="noStrike">
              <a:solidFill>
                <a:srgbClr val="F4F9F9"/>
              </a:solidFill>
              <a:latin typeface="Tenor Sans"/>
              <a:ea typeface="Tenor Sans"/>
              <a:cs typeface="Tenor Sans"/>
              <a:sym typeface="Tenor Sans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10591800" y="3491042"/>
            <a:ext cx="5448300" cy="2947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✅ Planeje seu projeto com metas claras de impacto socioambiental.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✅ Prepare documentação em formato organizado antes do envio.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✅ Engaje potenciais incentivadores desde cedo para alcançar a captação mínima.</a:t>
            </a:r>
            <a:b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099" u="none" cap="none" strike="noStrike">
                <a:solidFill>
                  <a:srgbClr val="F4F9F9"/>
                </a:solidFill>
                <a:latin typeface="Arial"/>
                <a:ea typeface="Arial"/>
                <a:cs typeface="Arial"/>
                <a:sym typeface="Arial"/>
              </a:rPr>
              <a:t>✅ Acompanhe prazos de submissão e calendários do sistema Transferegov e SINIR.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9796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/>
          <p:nvPr/>
        </p:nvSpPr>
        <p:spPr>
          <a:xfrm rot="-2926989">
            <a:off x="-12431368" y="-8975965"/>
            <a:ext cx="27274407" cy="25058977"/>
          </a:xfrm>
          <a:custGeom>
            <a:rect b="b" l="l" r="r" t="t"/>
            <a:pathLst>
              <a:path extrusionOk="0" h="25058977" w="27274407">
                <a:moveTo>
                  <a:pt x="0" y="0"/>
                </a:moveTo>
                <a:lnTo>
                  <a:pt x="27274407" y="0"/>
                </a:lnTo>
                <a:lnTo>
                  <a:pt x="27274407" y="25058977"/>
                </a:lnTo>
                <a:lnTo>
                  <a:pt x="0" y="25058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3" name="Google Shape;243;p17"/>
          <p:cNvSpPr/>
          <p:nvPr/>
        </p:nvSpPr>
        <p:spPr>
          <a:xfrm rot="5111384">
            <a:off x="13680135" y="1098024"/>
            <a:ext cx="12122938" cy="11672351"/>
          </a:xfrm>
          <a:custGeom>
            <a:rect b="b" l="l" r="r" t="t"/>
            <a:pathLst>
              <a:path extrusionOk="0" h="11672351" w="12122938">
                <a:moveTo>
                  <a:pt x="0" y="0"/>
                </a:moveTo>
                <a:lnTo>
                  <a:pt x="12122939" y="0"/>
                </a:lnTo>
                <a:lnTo>
                  <a:pt x="12122939" y="11672352"/>
                </a:lnTo>
                <a:lnTo>
                  <a:pt x="0" y="11672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